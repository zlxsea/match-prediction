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9E3132-7950-6A03-B4D4-8B57BC4C2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7441C2-46EE-D146-6131-C7BEB7A52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BC058A-2C24-416C-4F69-26B94021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C64804-F5AE-3342-8ADF-A11FA086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5E087-BEB8-5080-8D59-BE00C581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892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CF5F7-9A04-2770-3717-9B985EE6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4F92AC-CA60-AF26-8BED-54A856AD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B65BDD-410A-0C12-5E86-C3D1E45C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017DE-794A-346F-42F2-89A6D59D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B46929-1641-D97D-176C-5B3A90A3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56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D17A6-C18B-B91F-B11C-D185429E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5A110B-7120-6FFB-820F-A8D100779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C940DF-375A-0220-BF14-3EC3421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A8069-8BD8-6BD4-00B6-A64D0918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FA76E-FE34-981B-9537-C7E791E9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78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E67DF-50BA-E0E2-C41B-7248981E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806349-A385-DBC4-0E50-3A196B19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04D390-0540-3B35-491F-11A3B0FD3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07C4CC-C5D5-D757-3796-57E2A3F5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D5ACFF-3318-4D30-9995-F69ED56D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7436C9-BD2E-E4D8-4379-8F73A22E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86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C47E3-08F8-3537-BA9C-FE4FF4C8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5E71FB-24A4-827F-2994-8FD152C0A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2D7F2E-C3FF-F29D-4E13-6661AF9DC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707DEE-CB3F-D52B-12F3-ADD3D3F72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662DA5B-1977-A5C1-6258-A00535D3E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233BF9-C233-81DC-2207-66CDDD18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01862B-6448-2C1E-4E1F-A8ED192D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2F2E98-05FF-2B94-41BA-3B58D69D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13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7DA79-29D9-199F-8D7B-2469D587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5BC4B2-86AE-F0B3-7935-0A16774E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C265B3-01C1-222F-FD6F-6C6E28ED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26F1FF-8CC9-4F76-7EF4-514BEA4E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67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2E8F479-2FEB-CB56-8BFD-600E5D12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A4DC49-1096-B6FC-06E9-03B98B93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0187F6-B632-9533-751D-ADDD7300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23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D415F-537E-30DC-A03A-FCBBEEC6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F6E34B-AF06-5426-5B0A-F34969177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292290-9771-09F3-97ED-7DEA005E2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075F7E-7AAE-7EC0-0BD7-71085A24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7C16C5-D202-C3EC-5939-BB9EE9AA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5B48F9-B87B-B633-3B51-FFCD8CF1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94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A92A5-2F42-95A9-FBF0-66F1D3B7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46D95A0-0E89-78C5-F049-9EA3E3481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060195-475D-0943-442C-23CC00A27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056BAC-3E10-7CAF-B0D7-99C346C6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2B0F80-BBC7-1AE8-2120-572C3D07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CD0143-7C84-96F2-E9E2-3BB9F5C7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87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CEE5-7C70-4831-AB6C-026D30D6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906152-5995-7365-0003-9054970D0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13D6AD-BC6E-C213-712B-A5BBFFC2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16F47B-AAF1-62BB-6F3E-9FC997AC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B342F-C686-6BC1-FBD6-A7B8A55D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87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A752EC-9489-079C-007F-D64B01266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A61A20-4A82-3A51-2ED3-183601106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0C6844-BB90-4A82-CE93-4AD97E14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78E024-6754-8AFC-C7E9-C2A4384A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B1B13-AB67-04D3-5FB9-55196170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321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274CEC-0975-B8E6-2755-821435D6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6C577C-ADFD-3A90-2183-A37861F14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CA0FB4-DE40-F116-823E-716F422A2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E912BF-5404-C65F-569E-E4188256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18D8D5-6D73-4E0E-A6EC-724EEEE7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5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F3ADEC-B22B-AF85-C36D-604ACB2C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50BC8B-7491-F771-79A0-40DAC4566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92837F-8B2C-513B-2A8E-C1F33C941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10E3D-7576-4EF3-9C66-C47DAD99007B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95EFDC-BA27-17C9-F20C-88A1D94C8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96CCDC-EF13-C93B-7DC2-A2E24C726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1F3FE-28FD-494A-98DC-BD622DE254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58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2F06B-F830-3ED5-22F2-D15129877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49219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5400" b="1" dirty="0">
                <a:solidFill>
                  <a:srgbClr val="FFFFFF"/>
                </a:solidFill>
                <a:latin typeface="Arial" panose="020B0604020202020204" pitchFamily="34" charset="0"/>
              </a:rPr>
              <a:t>Match Prediction: AI Football Analytics</a:t>
            </a:r>
            <a:endParaRPr kumimoji="1" lang="ja-JP" altLang="en-US" sz="5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E52D48-8481-1902-E1F6-012C32507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1000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From Historical Data to Intelligent Decision Making</a:t>
            </a:r>
          </a:p>
          <a:p>
            <a:pPr algn="l"/>
            <a:r>
              <a:rPr kumimoji="1"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------------------------------------------------</a:t>
            </a:r>
          </a:p>
          <a:p>
            <a:pPr algn="l"/>
            <a:r>
              <a:rPr kumimoji="1"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Presented by: </a:t>
            </a:r>
            <a:r>
              <a:rPr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Apex</a:t>
            </a:r>
            <a:r>
              <a:rPr lang="ja-JP" altLang="en-US" dirty="0">
                <a:solidFill>
                  <a:srgbClr val="00FFFF"/>
                </a:solidFill>
                <a:latin typeface="Arial" panose="020B0604020202020204" pitchFamily="34" charset="0"/>
              </a:rPr>
              <a:t> </a:t>
            </a:r>
            <a:r>
              <a:rPr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Zenith</a:t>
            </a:r>
            <a:r>
              <a:rPr kumimoji="1" lang="en-US" altLang="ja-JP" dirty="0">
                <a:solidFill>
                  <a:srgbClr val="00FFFF"/>
                </a:solidFill>
                <a:latin typeface="Arial" panose="020B0604020202020204" pitchFamily="34" charset="0"/>
              </a:rPr>
              <a:t> Team</a:t>
            </a:r>
            <a:endParaRPr kumimoji="1" lang="ja-JP" altLang="en-US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6D4BCA-E411-2771-D8D9-CC4D0C88F7D9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FFBCD0-763A-F504-2DCF-924C0993F89E}"/>
              </a:ext>
            </a:extLst>
          </p:cNvPr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68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FA65D-39D7-7A1E-C949-A7A86A6D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1.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Goals of the Solution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E5E581-5690-5695-F851-5606DE5C1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309" y="1574800"/>
            <a:ext cx="8255000" cy="4351338"/>
          </a:xfrm>
        </p:spPr>
        <p:txBody>
          <a:bodyPr>
            <a:normAutofit/>
          </a:bodyPr>
          <a:lstStyle/>
          <a:p>
            <a:r>
              <a:rPr lang="en-US" altLang="ja-JP" sz="1800" dirty="0">
                <a:solidFill>
                  <a:schemeClr val="bg1"/>
                </a:solidFill>
              </a:rPr>
              <a:t>Create a data‑driven football match prediction system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Enable intelligent, explainable probability outputs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Build a scalable architecture for rapid experimentation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Support automated feature engineering and model tuning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A3300C-CFC0-CB42-6148-81CB814749F6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88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1AC8D-A3F1-79ED-A1C6-173BB7D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2.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How We Approached the Problem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1F9E33-4BBB-302F-8267-157A74D2A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463963"/>
            <a:ext cx="8255000" cy="4351338"/>
          </a:xfrm>
        </p:spPr>
        <p:txBody>
          <a:bodyPr>
            <a:normAutofit/>
          </a:bodyPr>
          <a:lstStyle/>
          <a:p>
            <a:r>
              <a:rPr lang="en-US" altLang="ja-JP" sz="1800" dirty="0">
                <a:solidFill>
                  <a:schemeClr val="bg1"/>
                </a:solidFill>
              </a:rPr>
              <a:t>Started with understanding core uncertainty in football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Focused on building time‑aware features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Performed strict time‑series validation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Chose stacking ensemble for robustness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Iteratively improved based on model insights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EB7A86D-10AB-E0C5-148E-52A005438203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56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6C370-EECA-284F-0FEA-CF613FCE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3.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Solution Architecture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1DD4F5A-93D2-F37E-5627-052356FC7052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C385186D-3B7B-2351-3C9B-2119C5F4A280}"/>
              </a:ext>
            </a:extLst>
          </p:cNvPr>
          <p:cNvSpPr txBox="1">
            <a:spLocks/>
          </p:cNvSpPr>
          <p:nvPr/>
        </p:nvSpPr>
        <p:spPr>
          <a:xfrm>
            <a:off x="508000" y="1463963"/>
            <a:ext cx="82550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chemeClr val="bg1"/>
                </a:solidFill>
              </a:rPr>
              <a:t>Data ingestion pipeline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Feature engineering module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Dynamic Elo subsystem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Stacking ensemble prediction engine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Demo 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93305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D462-9685-3ACB-A641-49CE8697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614AA-183A-9F09-7180-186A78CB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4</a:t>
            </a:r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.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Key Components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D8C91D-58C8-343A-F933-226F1BA4A6E1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06149556-7817-0A2B-7842-A002999287B5}"/>
              </a:ext>
            </a:extLst>
          </p:cNvPr>
          <p:cNvSpPr txBox="1">
            <a:spLocks/>
          </p:cNvSpPr>
          <p:nvPr/>
        </p:nvSpPr>
        <p:spPr>
          <a:xfrm>
            <a:off x="508000" y="1463963"/>
            <a:ext cx="82550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chemeClr val="bg1"/>
                </a:solidFill>
              </a:rPr>
              <a:t>Elo rating updates after each match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Rolling windows for recent form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Odds‑derived implied probabilities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30+ dimensional automatic extraction</a:t>
            </a:r>
          </a:p>
        </p:txBody>
      </p:sp>
    </p:spTree>
    <p:extLst>
      <p:ext uri="{BB962C8B-B14F-4D97-AF65-F5344CB8AC3E}">
        <p14:creationId xmlns:p14="http://schemas.microsoft.com/office/powerpoint/2010/main" val="69675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271AD-58D1-A65D-FCE9-8DB0D31E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5</a:t>
            </a:r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. Key Logic: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Dynamic Elo Algorithm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F6DF224-859C-9BB0-98FF-A68312F67AAD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8458E3BA-3B70-495C-6200-DB4636758847}"/>
              </a:ext>
            </a:extLst>
          </p:cNvPr>
          <p:cNvSpPr txBox="1">
            <a:spLocks/>
          </p:cNvSpPr>
          <p:nvPr/>
        </p:nvSpPr>
        <p:spPr>
          <a:xfrm>
            <a:off x="508000" y="1463963"/>
            <a:ext cx="82550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chemeClr val="bg1"/>
                </a:solidFill>
              </a:rPr>
              <a:t>Expected Probability = logistic(</a:t>
            </a:r>
            <a:r>
              <a:rPr lang="en-US" altLang="ja-JP" sz="1800" dirty="0" err="1">
                <a:solidFill>
                  <a:schemeClr val="bg1"/>
                </a:solidFill>
              </a:rPr>
              <a:t>home_elo</a:t>
            </a:r>
            <a:r>
              <a:rPr lang="en-US" altLang="ja-JP" sz="1800" dirty="0">
                <a:solidFill>
                  <a:schemeClr val="bg1"/>
                </a:solidFill>
              </a:rPr>
              <a:t>, </a:t>
            </a:r>
            <a:r>
              <a:rPr lang="en-US" altLang="ja-JP" sz="1800" dirty="0" err="1">
                <a:solidFill>
                  <a:schemeClr val="bg1"/>
                </a:solidFill>
              </a:rPr>
              <a:t>away_elo</a:t>
            </a:r>
            <a:r>
              <a:rPr lang="en-US" altLang="ja-JP" sz="18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Updated Ratings = old + K × (actual − expected)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Captures dynamic strength changes</a:t>
            </a:r>
          </a:p>
        </p:txBody>
      </p:sp>
    </p:spTree>
    <p:extLst>
      <p:ext uri="{BB962C8B-B14F-4D97-AF65-F5344CB8AC3E}">
        <p14:creationId xmlns:p14="http://schemas.microsoft.com/office/powerpoint/2010/main" val="173040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F1788-01BC-3C5E-3AAD-6DEEDFA3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6540E-5CA2-5726-0FDA-0CF87C6F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6. Key Logic: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Stacking Ensemble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54423C-1B1A-6F26-9344-1FA411F10FFB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2B85048-B396-136B-C6A0-434666F29AD5}"/>
              </a:ext>
            </a:extLst>
          </p:cNvPr>
          <p:cNvSpPr txBox="1">
            <a:spLocks/>
          </p:cNvSpPr>
          <p:nvPr/>
        </p:nvSpPr>
        <p:spPr>
          <a:xfrm>
            <a:off x="508000" y="1463963"/>
            <a:ext cx="82550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chemeClr val="bg1"/>
                </a:solidFill>
              </a:rPr>
              <a:t>Base Models: Logistic Regression, Random Forest, </a:t>
            </a:r>
            <a:r>
              <a:rPr lang="en-US" altLang="ja-JP" sz="1800" dirty="0" err="1">
                <a:solidFill>
                  <a:schemeClr val="bg1"/>
                </a:solidFill>
              </a:rPr>
              <a:t>XGBoost</a:t>
            </a:r>
            <a:endParaRPr lang="en-US" altLang="ja-JP" sz="1800" dirty="0">
              <a:solidFill>
                <a:schemeClr val="bg1"/>
              </a:solidFill>
            </a:endParaRPr>
          </a:p>
          <a:p>
            <a:r>
              <a:rPr lang="en-US" altLang="ja-JP" sz="1800" dirty="0">
                <a:solidFill>
                  <a:schemeClr val="bg1"/>
                </a:solidFill>
              </a:rPr>
              <a:t>Meta Model: Logistic Regression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Cross‑validated stacking to avoid leakage</a:t>
            </a:r>
          </a:p>
        </p:txBody>
      </p:sp>
    </p:spTree>
    <p:extLst>
      <p:ext uri="{BB962C8B-B14F-4D97-AF65-F5344CB8AC3E}">
        <p14:creationId xmlns:p14="http://schemas.microsoft.com/office/powerpoint/2010/main" val="65121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C7B44-EF18-6946-3436-43FB4D63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1"/>
            <a:ext cx="10515600" cy="1128248"/>
          </a:xfrm>
        </p:spPr>
        <p:txBody>
          <a:bodyPr/>
          <a:lstStyle/>
          <a:p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7</a:t>
            </a:r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. Application Demo</a:t>
            </a:r>
            <a:endParaRPr kumimoji="1"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B82CF3-18A3-D3DA-16B2-A88876BCA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1" y="1509248"/>
            <a:ext cx="2523836" cy="4060279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4D1B3C-329F-704D-D98A-6170F10291D9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63BBEC-E8CD-DA48-566F-AB40372697CF}"/>
              </a:ext>
            </a:extLst>
          </p:cNvPr>
          <p:cNvSpPr txBox="1"/>
          <p:nvPr/>
        </p:nvSpPr>
        <p:spPr>
          <a:xfrm>
            <a:off x="635000" y="1848407"/>
            <a:ext cx="2376055" cy="31085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Interactive Features:</a:t>
            </a:r>
          </a:p>
          <a:p>
            <a:endParaRPr kumimoji="1"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1. Smart League Filtering</a:t>
            </a:r>
          </a:p>
          <a:p>
            <a:endParaRPr kumimoji="1"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2. Auto Feature Extraction</a:t>
            </a: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   (Retrieving 30+ dims)</a:t>
            </a:r>
          </a:p>
          <a:p>
            <a:endParaRPr kumimoji="1"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3. Probability Output</a:t>
            </a: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   (Home / Draw / Away)</a:t>
            </a:r>
          </a:p>
          <a:p>
            <a:endParaRPr kumimoji="1"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4. Value Detection</a:t>
            </a:r>
          </a:p>
          <a:p>
            <a:r>
              <a:rPr kumimoji="1"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   (Model vs. Market Odds)</a:t>
            </a:r>
            <a:endParaRPr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endParaRPr lang="en-US" altLang="ja-JP" sz="1400" dirty="0">
              <a:solidFill>
                <a:srgbClr val="F0F0F0"/>
              </a:solidFill>
              <a:latin typeface="Arial" panose="020B0604020202020204" pitchFamily="34" charset="0"/>
            </a:endParaRPr>
          </a:p>
          <a:p>
            <a:r>
              <a:rPr lang="en-US" altLang="ja-JP" sz="1400" dirty="0">
                <a:solidFill>
                  <a:srgbClr val="F0F0F0"/>
                </a:solidFill>
                <a:latin typeface="Arial" panose="020B0604020202020204" pitchFamily="34" charset="0"/>
              </a:rPr>
              <a:t>5. Azure Language Service</a:t>
            </a:r>
            <a:endParaRPr kumimoji="1" lang="ja-JP" altLang="en-US" sz="140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4B42A19-3D9A-7DE1-CD8B-0CB39B93D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993" y="2253672"/>
            <a:ext cx="8748726" cy="368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1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FB4D3-7E64-7014-D220-429392AA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8</a:t>
            </a:r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. </a:t>
            </a:r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Key Learnings</a:t>
            </a:r>
            <a:endParaRPr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A7E909-1441-5594-E0A4-0E8393E89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537855"/>
            <a:ext cx="8255000" cy="4351338"/>
          </a:xfrm>
        </p:spPr>
        <p:txBody>
          <a:bodyPr>
            <a:normAutofit/>
          </a:bodyPr>
          <a:lstStyle/>
          <a:p>
            <a:r>
              <a:rPr lang="en-US" altLang="ja-JP" sz="1800" dirty="0">
                <a:solidFill>
                  <a:schemeClr val="bg1"/>
                </a:solidFill>
              </a:rPr>
              <a:t>Elo + Odds provided strongest predictive power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Market odds encode vital sentiment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Time‑series validation is mandatory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Ensemble models outperform single models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DCAB94B-B731-FDCE-B97A-B9BDC37DFC4C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02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5AC1A-AE05-A2E1-2C10-658B0639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31DF6-9AE0-2831-6976-D70E1655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10515600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9</a:t>
            </a:r>
            <a:r>
              <a:rPr kumimoji="1" lang="en-US" altLang="ja-JP" b="1" dirty="0">
                <a:solidFill>
                  <a:srgbClr val="00FFFF"/>
                </a:solidFill>
                <a:latin typeface="Arial" panose="020B0604020202020204" pitchFamily="34" charset="0"/>
              </a:rPr>
              <a:t>. Roadmap</a:t>
            </a:r>
            <a:endParaRPr kumimoji="1" lang="ja-JP" altLang="en-US" b="1" dirty="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1C6E83-5E7E-C51B-D768-8A8772169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537855"/>
            <a:ext cx="8255000" cy="4351338"/>
          </a:xfrm>
        </p:spPr>
        <p:txBody>
          <a:bodyPr>
            <a:normAutofit/>
          </a:bodyPr>
          <a:lstStyle/>
          <a:p>
            <a:r>
              <a:rPr lang="en-US" altLang="ja-JP" sz="1800" dirty="0">
                <a:solidFill>
                  <a:schemeClr val="bg1"/>
                </a:solidFill>
              </a:rPr>
              <a:t>Kelly‑based value betting engine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LSTM/RNN for sequential trends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Real‑time API for in‑play predictions</a:t>
            </a:r>
          </a:p>
          <a:p>
            <a:r>
              <a:rPr lang="en-US" altLang="ja-JP" sz="1800" dirty="0">
                <a:solidFill>
                  <a:schemeClr val="bg1"/>
                </a:solidFill>
              </a:rPr>
              <a:t>SHAP‑based explainability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F2F305A-C9C2-67FC-FF9A-CCA7C6BF9EA1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899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1728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C9B90A-43AA-8471-D165-8DB532A5564E}"/>
              </a:ext>
            </a:extLst>
          </p:cNvPr>
          <p:cNvSpPr/>
          <p:nvPr/>
        </p:nvSpPr>
        <p:spPr>
          <a:xfrm>
            <a:off x="0" y="0"/>
            <a:ext cx="1905000" cy="101600"/>
          </a:xfrm>
          <a:prstGeom prst="rect">
            <a:avLst/>
          </a:prstGeom>
          <a:solidFill>
            <a:srgbClr val="00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六角形 3">
            <a:extLst>
              <a:ext uri="{FF2B5EF4-FFF2-40B4-BE49-F238E27FC236}">
                <a16:creationId xmlns:a16="http://schemas.microsoft.com/office/drawing/2014/main" id="{AB87DD34-4662-B713-E5C3-6D73BEF0F28D}"/>
              </a:ext>
            </a:extLst>
          </p:cNvPr>
          <p:cNvSpPr/>
          <p:nvPr/>
        </p:nvSpPr>
        <p:spPr>
          <a:xfrm>
            <a:off x="3175000" y="1905000"/>
            <a:ext cx="2540000" cy="2286000"/>
          </a:xfrm>
          <a:prstGeom prst="hexagon">
            <a:avLst/>
          </a:prstGeom>
          <a:solidFill>
            <a:srgbClr val="000000"/>
          </a:solidFill>
          <a:ln w="3810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417723-E23C-835F-890B-7DE99FDD2AF0}"/>
              </a:ext>
            </a:extLst>
          </p:cNvPr>
          <p:cNvSpPr txBox="1"/>
          <p:nvPr/>
        </p:nvSpPr>
        <p:spPr>
          <a:xfrm>
            <a:off x="0" y="2540000"/>
            <a:ext cx="1219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sz="5400" b="1">
                <a:solidFill>
                  <a:srgbClr val="FFFFFF"/>
                </a:solidFill>
                <a:latin typeface="Arial" panose="020B0604020202020204" pitchFamily="34" charset="0"/>
              </a:rPr>
              <a:t>THANK YOU</a:t>
            </a:r>
            <a:endParaRPr kumimoji="1" lang="ja-JP" altLang="en-US" sz="5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314</Words>
  <Application>Microsoft Office PowerPoint</Application>
  <PresentationFormat>ワイド画面</PresentationFormat>
  <Paragraphs>60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Match Prediction: AI Football Analytics</vt:lpstr>
      <vt:lpstr>1. Goals of the Solution</vt:lpstr>
      <vt:lpstr>2. How We Approached the Problem</vt:lpstr>
      <vt:lpstr>3. Solution Architecture</vt:lpstr>
      <vt:lpstr>4. Key Components</vt:lpstr>
      <vt:lpstr>5. Key Logic: Dynamic Elo Algorithm</vt:lpstr>
      <vt:lpstr>6. Key Logic: Stacking Ensemble</vt:lpstr>
      <vt:lpstr>7. Application Demo</vt:lpstr>
      <vt:lpstr>8. Key Learnings</vt:lpstr>
      <vt:lpstr>9. Roadmap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レイ翔 張</dc:creator>
  <cp:lastModifiedBy>レイ翔 張</cp:lastModifiedBy>
  <cp:revision>4</cp:revision>
  <dcterms:created xsi:type="dcterms:W3CDTF">2025-11-23T00:40:08Z</dcterms:created>
  <dcterms:modified xsi:type="dcterms:W3CDTF">2025-11-23T03:25:47Z</dcterms:modified>
</cp:coreProperties>
</file>